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Artificial Intelligence: Shaping the Future</a:t>
            </a:r>
          </a:p>
        </p:txBody>
      </p:sp>
      <p:sp>
        <p:nvSpPr>
          <p:cNvPr id="3" name="Subtitle 2"/>
          <p:cNvSpPr>
            <a:spLocks noGrp="1"/>
          </p:cNvSpPr>
          <p:nvPr>
            <p:ph type="subTitle" idx="1"/>
          </p:nvPr>
        </p:nvSpPr>
        <p:spPr/>
        <p:txBody>
          <a:bodyPr/>
          <a:lstStyle/>
          <a:p>
            <a:r>
              <a:t>Exploring the revolutionary technology that's transforming our world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is Artificial Intelligence?</a:t>
            </a:r>
          </a:p>
        </p:txBody>
      </p:sp>
      <p:sp>
        <p:nvSpPr>
          <p:cNvPr id="3" name="Content Placeholder 2"/>
          <p:cNvSpPr>
            <a:spLocks noGrp="1"/>
          </p:cNvSpPr>
          <p:nvPr>
            <p:ph idx="1"/>
          </p:nvPr>
        </p:nvSpPr>
        <p:spPr/>
        <p:txBody>
          <a:bodyPr/>
          <a:lstStyle/>
          <a:p/>
          <a:p>
            <a:pPr lvl="1"/>
            <a:r>
              <a:t>Computer systems that can perform tasks requiring human intelligence</a:t>
            </a:r>
          </a:p>
          <a:p>
            <a:pPr lvl="1"/>
            <a:r>
              <a:t>Includes learning, reasoning, problem-solving, and decision-making</a:t>
            </a:r>
          </a:p>
          <a:p>
            <a:pPr lvl="1"/>
            <a:r>
              <a:t>Ranges from narrow AI (specific tasks) to general AI (human-like intelligence)</a:t>
            </a:r>
          </a:p>
          <a:p>
            <a:pPr lvl="1"/>
            <a:r>
              <a:t>Combines computer science, mathematics, psychology, and neuroscience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Brief History of AI</a:t>
            </a:r>
          </a:p>
        </p:txBody>
      </p:sp>
      <p:sp>
        <p:nvSpPr>
          <p:cNvPr id="3" name="Content Placeholder 2"/>
          <p:cNvSpPr>
            <a:spLocks noGrp="1"/>
          </p:cNvSpPr>
          <p:nvPr>
            <p:ph idx="1"/>
          </p:nvPr>
        </p:nvSpPr>
        <p:spPr/>
        <p:txBody>
          <a:bodyPr/>
          <a:lstStyle/>
          <a:p/>
          <a:p>
            <a:pPr lvl="1"/>
            <a:r>
              <a:t>1950s: Alan Turing proposes the Turing Test</a:t>
            </a:r>
          </a:p>
          <a:p>
            <a:pPr lvl="1"/>
            <a:r>
              <a:t>1956: Term 'Artificial Intelligence' coined at Dartmouth Conference</a:t>
            </a:r>
          </a:p>
          <a:p>
            <a:pPr lvl="1"/>
            <a:r>
              <a:t>1997: Deep Blue defeats world chess champion</a:t>
            </a:r>
          </a:p>
          <a:p>
            <a:pPr lvl="1"/>
            <a:r>
              <a:t>2011: IBM Watson wins Jeopardy!</a:t>
            </a:r>
          </a:p>
          <a:p>
            <a:pPr lvl="1"/>
            <a:r>
              <a:t>2016: AlphaGo defeats Go world champion</a:t>
            </a:r>
          </a:p>
          <a:p>
            <a:pPr lvl="1"/>
            <a:r>
              <a:t>2022: ChatGPT launches, bringing AI to mainstream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Types of AI</a:t>
            </a:r>
          </a:p>
        </p:txBody>
      </p:sp>
      <p:sp>
        <p:nvSpPr>
          <p:cNvPr id="3" name="Content Placeholder 2"/>
          <p:cNvSpPr>
            <a:spLocks noGrp="1"/>
          </p:cNvSpPr>
          <p:nvPr>
            <p:ph idx="1"/>
          </p:nvPr>
        </p:nvSpPr>
        <p:spPr/>
        <p:txBody>
          <a:bodyPr/>
          <a:lstStyle/>
          <a:p/>
          <a:p>
            <a:pPr lvl="1"/>
            <a:r>
              <a:t>Narrow AI: Designed for specific tasks (Siri, Netflix recommendations)</a:t>
            </a:r>
          </a:p>
          <a:p>
            <a:pPr lvl="1"/>
            <a:r>
              <a:t>General AI: Hypothetical AI with human-level intelligence across all domains</a:t>
            </a:r>
          </a:p>
          <a:p>
            <a:pPr lvl="1"/>
            <a:r>
              <a:t>Super AI: Theoretical AI surpassing human intelligence</a:t>
            </a:r>
          </a:p>
          <a:p>
            <a:pPr lvl="1"/>
            <a:r>
              <a:t>Machine Learning: Algorithms that improve through experience</a:t>
            </a:r>
          </a:p>
          <a:p>
            <a:pPr lvl="1"/>
            <a:r>
              <a:t>Deep Learning: Neural networks with multiple layers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AI Works</a:t>
            </a:r>
          </a:p>
        </p:txBody>
      </p:sp>
      <p:sp>
        <p:nvSpPr>
          <p:cNvPr id="3" name="Content Placeholder 2"/>
          <p:cNvSpPr>
            <a:spLocks noGrp="1"/>
          </p:cNvSpPr>
          <p:nvPr>
            <p:ph idx="1"/>
          </p:nvPr>
        </p:nvSpPr>
        <p:spPr/>
        <p:txBody>
          <a:bodyPr/>
          <a:lstStyle/>
          <a:p/>
          <a:p>
            <a:pPr lvl="1"/>
            <a:r>
              <a:t>Data Collection: Gathering relevant information</a:t>
            </a:r>
          </a:p>
          <a:p>
            <a:pPr lvl="1"/>
            <a:r>
              <a:t>Training: Teaching algorithms using data patterns</a:t>
            </a:r>
          </a:p>
          <a:p>
            <a:pPr lvl="1"/>
            <a:r>
              <a:t>Neural Networks: Simulating human brain connections</a:t>
            </a:r>
          </a:p>
          <a:p>
            <a:pPr lvl="1"/>
            <a:r>
              <a:t>Natural Language Processing: Understanding human language</a:t>
            </a:r>
          </a:p>
          <a:p>
            <a:pPr lvl="1"/>
            <a:r>
              <a:t>Computer Vision: Interpreting visual information</a:t>
            </a:r>
          </a:p>
          <a:p>
            <a:pPr lvl="1"/>
            <a:r>
              <a:t>Reinforcement Learning: Learning through trial and error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 vs Traditional Programming</a:t>
            </a:r>
          </a:p>
        </p:txBody>
      </p:sp>
      <p:sp>
        <p:nvSpPr>
          <p:cNvPr id="3" name="Text Placeholder 2"/>
          <p:cNvSpPr>
            <a:spLocks noGrp="1"/>
          </p:cNvSpPr>
          <p:nvPr>
            <p:ph type="body" idx="1"/>
          </p:nvPr>
        </p:nvSpPr>
        <p:spPr/>
        <p:txBody>
          <a:bodyPr/>
          <a:lstStyle/>
          <a:p>
            <a:r>
              <a:t>Traditional Programming</a:t>
            </a:r>
          </a:p>
        </p:txBody>
      </p:sp>
      <p:sp>
        <p:nvSpPr>
          <p:cNvPr id="4" name="Content Placeholder 3"/>
          <p:cNvSpPr>
            <a:spLocks noGrp="1"/>
          </p:cNvSpPr>
          <p:nvPr>
            <p:ph idx="2" sz="half"/>
          </p:nvPr>
        </p:nvSpPr>
        <p:spPr/>
        <p:txBody>
          <a:bodyPr/>
          <a:lstStyle/>
          <a:p/>
          <a:p>
            <a:pPr lvl="1"/>
            <a:r>
              <a:t>Explicit rules defined by programmers</a:t>
            </a:r>
          </a:p>
          <a:p>
            <a:pPr lvl="1"/>
            <a:r>
              <a:t>Fixed logic and decision trees</a:t>
            </a:r>
          </a:p>
          <a:p>
            <a:pPr lvl="1"/>
            <a:r>
              <a:t>Limited adaptability</a:t>
            </a:r>
          </a:p>
          <a:p>
            <a:pPr lvl="1"/>
            <a:r>
              <a:t>Requires manual updates for changes</a:t>
            </a:r>
          </a:p>
          <a:p>
            <a:pPr lvl="1"/>
            <a:r>
              <a:t>Predictable outcomes based on code</a:t>
            </a:r>
          </a:p>
        </p:txBody>
      </p:sp>
      <p:sp>
        <p:nvSpPr>
          <p:cNvPr id="5" name="Text Placeholder 4"/>
          <p:cNvSpPr>
            <a:spLocks noGrp="1"/>
          </p:cNvSpPr>
          <p:nvPr>
            <p:ph type="body" idx="3" sz="quarter"/>
          </p:nvPr>
        </p:nvSpPr>
        <p:spPr/>
        <p:txBody>
          <a:bodyPr/>
          <a:lstStyle/>
          <a:p>
            <a:r>
              <a:t>Artificial Intelligence</a:t>
            </a:r>
          </a:p>
        </p:txBody>
      </p:sp>
      <p:sp>
        <p:nvSpPr>
          <p:cNvPr id="6" name="Content Placeholder 5"/>
          <p:cNvSpPr>
            <a:spLocks noGrp="1"/>
          </p:cNvSpPr>
          <p:nvPr>
            <p:ph idx="4" sz="quarter"/>
          </p:nvPr>
        </p:nvSpPr>
        <p:spPr/>
        <p:txBody>
          <a:bodyPr/>
          <a:lstStyle/>
          <a:p/>
          <a:p>
            <a:pPr lvl="1"/>
            <a:r>
              <a:t>Learns patterns from data</a:t>
            </a:r>
          </a:p>
          <a:p>
            <a:pPr lvl="1"/>
            <a:r>
              <a:t>Adapts and improves over time</a:t>
            </a:r>
          </a:p>
          <a:p>
            <a:pPr lvl="1"/>
            <a:r>
              <a:t>Handles uncertainty and variation</a:t>
            </a:r>
          </a:p>
          <a:p>
            <a:pPr lvl="1"/>
            <a:r>
              <a:t>Autonomous decision-making</a:t>
            </a:r>
          </a:p>
          <a:p>
            <a:pPr lvl="1"/>
            <a:r>
              <a:t>Can discover unexpected solutions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Real-World Applications</a:t>
            </a:r>
          </a:p>
        </p:txBody>
      </p:sp>
      <p:sp>
        <p:nvSpPr>
          <p:cNvPr id="3" name="Content Placeholder 2"/>
          <p:cNvSpPr>
            <a:spLocks noGrp="1"/>
          </p:cNvSpPr>
          <p:nvPr>
            <p:ph idx="1"/>
          </p:nvPr>
        </p:nvSpPr>
        <p:spPr/>
        <p:txBody>
          <a:bodyPr/>
          <a:lstStyle/>
          <a:p/>
          <a:p>
            <a:pPr lvl="1"/>
            <a:r>
              <a:t>Healthcare: Disease diagnosis, drug discovery, personalized treatment</a:t>
            </a:r>
          </a:p>
          <a:p>
            <a:pPr lvl="1"/>
            <a:r>
              <a:t>Transportation: Self-driving cars, traffic optimization, route planning</a:t>
            </a:r>
          </a:p>
          <a:p>
            <a:pPr lvl="1"/>
            <a:r>
              <a:t>Finance: Fraud detection, algorithmic trading, credit scoring</a:t>
            </a:r>
          </a:p>
          <a:p>
            <a:pPr lvl="1"/>
            <a:r>
              <a:t>Education: Personalized learning, automated grading, tutoring systems</a:t>
            </a:r>
          </a:p>
          <a:p>
            <a:pPr lvl="1"/>
            <a:r>
              <a:t>Entertainment: Content recommendation, game AI, music composition</a:t>
            </a:r>
          </a:p>
          <a:p>
            <a:pPr lvl="1"/>
            <a:r>
              <a:t>Manufacturing: Quality control, predictive maintenance, robotics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Benefits of AI</a:t>
            </a:r>
          </a:p>
        </p:txBody>
      </p:sp>
      <p:sp>
        <p:nvSpPr>
          <p:cNvPr id="3" name="Content Placeholder 2"/>
          <p:cNvSpPr>
            <a:spLocks noGrp="1"/>
          </p:cNvSpPr>
          <p:nvPr>
            <p:ph idx="1"/>
          </p:nvPr>
        </p:nvSpPr>
        <p:spPr/>
        <p:txBody>
          <a:bodyPr/>
          <a:lstStyle/>
          <a:p/>
          <a:p>
            <a:pPr lvl="1"/>
            <a:r>
              <a:t>Increased efficiency and productivity</a:t>
            </a:r>
          </a:p>
          <a:p>
            <a:pPr lvl="1"/>
            <a:r>
              <a:t>24/7 availability without fatigue</a:t>
            </a:r>
          </a:p>
          <a:p>
            <a:pPr lvl="1"/>
            <a:r>
              <a:t>Enhanced accuracy in data analysis</a:t>
            </a:r>
          </a:p>
          <a:p>
            <a:pPr lvl="1"/>
            <a:r>
              <a:t>Automation of repetitive tasks</a:t>
            </a:r>
          </a:p>
          <a:p>
            <a:pPr lvl="1"/>
            <a:r>
              <a:t>Personalized user experiences</a:t>
            </a:r>
          </a:p>
          <a:p>
            <a:pPr lvl="1"/>
            <a:r>
              <a:t>Solving complex problems beyond human capability</a:t>
            </a:r>
          </a:p>
          <a:p>
            <a:pPr lvl="1"/>
            <a:r>
              <a:t>Cost reduction in operations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Challenges and Concerns</a:t>
            </a:r>
          </a:p>
        </p:txBody>
      </p:sp>
      <p:sp>
        <p:nvSpPr>
          <p:cNvPr id="3" name="Content Placeholder 2"/>
          <p:cNvSpPr>
            <a:spLocks noGrp="1"/>
          </p:cNvSpPr>
          <p:nvPr>
            <p:ph idx="1"/>
          </p:nvPr>
        </p:nvSpPr>
        <p:spPr/>
        <p:txBody>
          <a:bodyPr/>
          <a:lstStyle/>
          <a:p/>
          <a:p>
            <a:pPr lvl="1"/>
            <a:r>
              <a:t>Job displacement and economic impact</a:t>
            </a:r>
          </a:p>
          <a:p>
            <a:pPr lvl="1"/>
            <a:r>
              <a:t>Privacy and surveillance concerns</a:t>
            </a:r>
          </a:p>
          <a:p>
            <a:pPr lvl="1"/>
            <a:r>
              <a:t>Algorithmic bias and fairness</a:t>
            </a:r>
          </a:p>
          <a:p>
            <a:pPr lvl="1"/>
            <a:r>
              <a:t>Lack of transparency in decision-making</a:t>
            </a:r>
          </a:p>
          <a:p>
            <a:pPr lvl="1"/>
            <a:r>
              <a:t>Security vulnerabilities and hacking risks</a:t>
            </a:r>
          </a:p>
          <a:p>
            <a:pPr lvl="1"/>
            <a:r>
              <a:t>Ethical dilemmas in autonomous systems</a:t>
            </a:r>
          </a:p>
          <a:p>
            <a:pPr lvl="1"/>
            <a:r>
              <a:t>Over-reliance on technology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 Ethics and Governance</a:t>
            </a:r>
          </a:p>
        </p:txBody>
      </p:sp>
      <p:sp>
        <p:nvSpPr>
          <p:cNvPr id="3" name="Content Placeholder 2"/>
          <p:cNvSpPr>
            <a:spLocks noGrp="1"/>
          </p:cNvSpPr>
          <p:nvPr>
            <p:ph idx="1"/>
          </p:nvPr>
        </p:nvSpPr>
        <p:spPr/>
        <p:txBody>
          <a:bodyPr/>
          <a:lstStyle/>
          <a:p/>
          <a:p>
            <a:pPr lvl="1"/>
            <a:r>
              <a:t>Need for transparent and accountable AI systems</a:t>
            </a:r>
          </a:p>
          <a:p>
            <a:pPr lvl="1"/>
            <a:r>
              <a:t>Ensuring fairness and preventing discrimination</a:t>
            </a:r>
          </a:p>
          <a:p>
            <a:pPr lvl="1"/>
            <a:r>
              <a:t>Protecting individual privacy rights</a:t>
            </a:r>
          </a:p>
          <a:p>
            <a:pPr lvl="1"/>
            <a:r>
              <a:t>Establishing regulatory frameworks</a:t>
            </a:r>
          </a:p>
          <a:p>
            <a:pPr lvl="1"/>
            <a:r>
              <a:t>Promoting responsible AI development</a:t>
            </a:r>
          </a:p>
          <a:p>
            <a:pPr lvl="1"/>
            <a:r>
              <a:t>Balancing innovation with safety</a:t>
            </a:r>
          </a:p>
          <a:p>
            <a:pPr lvl="1"/>
            <a:r>
              <a:t>International cooperation on AI standards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Future of AI</a:t>
            </a:r>
          </a:p>
        </p:txBody>
      </p:sp>
      <p:sp>
        <p:nvSpPr>
          <p:cNvPr id="3" name="Content Placeholder 2"/>
          <p:cNvSpPr>
            <a:spLocks noGrp="1"/>
          </p:cNvSpPr>
          <p:nvPr>
            <p:ph idx="1"/>
          </p:nvPr>
        </p:nvSpPr>
        <p:spPr/>
        <p:txBody>
          <a:bodyPr/>
          <a:lstStyle/>
          <a:p/>
          <a:p>
            <a:pPr lvl="1"/>
            <a:r>
              <a:t>Continued advancement in machine learning capabilities</a:t>
            </a:r>
          </a:p>
          <a:p>
            <a:pPr lvl="1"/>
            <a:r>
              <a:t>Integration with Internet of Things (IoT)</a:t>
            </a:r>
          </a:p>
          <a:p>
            <a:pPr lvl="1"/>
            <a:r>
              <a:t>Enhanced human-AI collaboration</a:t>
            </a:r>
          </a:p>
          <a:p>
            <a:pPr lvl="1"/>
            <a:r>
              <a:t>Breakthrough in general AI research</a:t>
            </a:r>
          </a:p>
          <a:p>
            <a:pPr lvl="1"/>
            <a:r>
              <a:t>Quantum computing revolutionizing AI</a:t>
            </a:r>
          </a:p>
          <a:p>
            <a:pPr lvl="1"/>
            <a:r>
              <a:t>AI in space exploration and scientific discovery</a:t>
            </a:r>
          </a:p>
          <a:p>
            <a:pPr lvl="1"/>
            <a:r>
              <a:t>Potential for solving global challenges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Preparing for an AI Future</a:t>
            </a:r>
          </a:p>
        </p:txBody>
      </p:sp>
      <p:sp>
        <p:nvSpPr>
          <p:cNvPr id="3" name="Content Placeholder 2"/>
          <p:cNvSpPr>
            <a:spLocks noGrp="1"/>
          </p:cNvSpPr>
          <p:nvPr>
            <p:ph idx="1"/>
          </p:nvPr>
        </p:nvSpPr>
        <p:spPr/>
        <p:txBody>
          <a:bodyPr/>
          <a:lstStyle/>
          <a:p/>
          <a:p>
            <a:pPr lvl="1"/>
            <a:r>
              <a:t>Developing AI literacy and digital skills</a:t>
            </a:r>
          </a:p>
          <a:p>
            <a:pPr lvl="1"/>
            <a:r>
              <a:t>Emphasizing human creativity and emotional intelligence</a:t>
            </a:r>
          </a:p>
          <a:p>
            <a:pPr lvl="1"/>
            <a:r>
              <a:t>Creating adaptive education systems</a:t>
            </a:r>
          </a:p>
          <a:p>
            <a:pPr lvl="1"/>
            <a:r>
              <a:t>Establishing ethical guidelines</a:t>
            </a:r>
          </a:p>
          <a:p>
            <a:pPr lvl="1"/>
            <a:r>
              <a:t>Investing in AI research and development</a:t>
            </a:r>
          </a:p>
          <a:p>
            <a:pPr lvl="1"/>
            <a:r>
              <a:t>Building inclusive AI for everyone</a:t>
            </a:r>
          </a:p>
          <a:p>
            <a:pPr lvl="1"/>
            <a:r>
              <a:t>Fostering human-AI partnership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Conclusion</a:t>
            </a:r>
          </a:p>
        </p:txBody>
      </p:sp>
      <p:sp>
        <p:nvSpPr>
          <p:cNvPr id="3" name="Content Placeholder 2"/>
          <p:cNvSpPr>
            <a:spLocks noGrp="1"/>
          </p:cNvSpPr>
          <p:nvPr>
            <p:ph idx="1"/>
          </p:nvPr>
        </p:nvSpPr>
        <p:spPr/>
        <p:txBody>
          <a:bodyPr/>
          <a:lstStyle/>
          <a:p/>
          <a:p>
            <a:r>
              <a:t>Artificial Intelligence represents one of the most transformative technologies of our time. While it presents incredible opportunities for advancement across all sectors of society, it also requires careful consideration of ethical implications and responsible development. By understanding AI's capabilities and limitations, we can harness its power to create a better future for humanity.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